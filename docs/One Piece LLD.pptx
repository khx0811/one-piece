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Host Grotesk Medium" panose="020B0604020202020204" charset="0"/>
      <p:regular r:id="rId15"/>
    </p:embeddedFont>
    <p:embeddedFont>
      <p:font typeface="Roboto" panose="020F0502020204030204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49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555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Online Auction System: Low-Level Design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2754"/>
            <a:ext cx="1094910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Agenda: Understanding the System's Inner Workings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033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58403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632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123128"/>
            <a:ext cx="640794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High-level architecture and component decomposition.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1033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458403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2632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 Deep Dive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123128"/>
            <a:ext cx="640806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ReactJS components and state management strategies.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386012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92429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43894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 Deep Dive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4879896"/>
            <a:ext cx="640794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Boot APIs, services, and data flows.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386012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4192429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43894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Essentials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4879896"/>
            <a:ext cx="640806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 schema and key entity relationships.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93790" y="56168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926574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3790" y="6146244"/>
            <a:ext cx="32901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Process Walkthrough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93790" y="6636663"/>
            <a:ext cx="640794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look at the bidding process.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7428548" y="56168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06</a:t>
            </a:r>
            <a:endParaRPr lang="en-US" sz="17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926574"/>
            <a:ext cx="6408063" cy="30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28548" y="6146244"/>
            <a:ext cx="29102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Critical Considerations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428548" y="6636663"/>
            <a:ext cx="640806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Security, scalability, and future enhancements.</a:t>
            </a:r>
            <a:endParaRPr lang="en-US" sz="1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682F235-0780-86E3-F972-15E53AF6A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383" y="7656434"/>
            <a:ext cx="3147333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878" y="427315"/>
            <a:ext cx="11358205" cy="48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Overall System Architecture: Decomposing the Auction Platform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3878" y="1223605"/>
            <a:ext cx="13542645" cy="466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Online Auction System adopts a layered, microservices-oriented architecture to ensure modularity, scalability, and maintainability. This structure clearly separates concerns, allowing for independent development and deployment of key functionalities.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62" y="1864400"/>
            <a:ext cx="13492758" cy="51157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5238" y="4916657"/>
            <a:ext cx="3047075" cy="380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MySQL Database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89185" y="5405882"/>
            <a:ext cx="3223128" cy="60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Persistent storage accessed via JDBC/JPA.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517941" y="3806167"/>
            <a:ext cx="3047075" cy="380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Spring Boot Backend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517941" y="4295392"/>
            <a:ext cx="3223128" cy="60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services and REST endpoints, handles requests.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19408" y="2641508"/>
            <a:ext cx="3047075" cy="380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ReactJS Frontend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43355" y="3130733"/>
            <a:ext cx="3223128" cy="609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interface and client-side logic, calls REST API.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3878" y="7154942"/>
            <a:ext cx="13542645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(ReactJS):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User interface and interaction layer.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3878" y="7442240"/>
            <a:ext cx="13542645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(Spring Boot):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Business logic, API endpoints, and data access orchestration.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3878" y="7729538"/>
            <a:ext cx="13542645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(MySQL):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Persistent storage for all auction data.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3878" y="8016835"/>
            <a:ext cx="13542645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APIs:</a:t>
            </a:r>
            <a:r>
              <a:rPr lang="en-US" sz="1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primary communication channel between frontend and backend.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1928A3-5153-55D7-3B41-9D9DFE7A5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383" y="7656434"/>
            <a:ext cx="3147333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094" y="674727"/>
            <a:ext cx="12914948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 LLD (ReactJS): Component Design &amp; State Management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50094" y="1644491"/>
            <a:ext cx="698623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ReactJS frontend is designed around a modular component-based architecture, promoting reusability and maintainability. Key components include: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50094" y="2801779"/>
            <a:ext cx="698623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Login, Registration, Password Reset.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0094" y="3198257"/>
            <a:ext cx="698623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Listing: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Browse Items, Search, Filters.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0094" y="3594735"/>
            <a:ext cx="698623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Auction Item: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Item Details, Current Bid, Bid History, Countdown Timer.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50094" y="3991213"/>
            <a:ext cx="698623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Bidding Controls: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Place Bid, Autobid.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0094" y="4387691"/>
            <a:ext cx="698623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Dashboard: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My Bids, My Listings, Notifications.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0094" y="4902041"/>
            <a:ext cx="6986230" cy="160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management will be handled primarily by </a:t>
            </a:r>
            <a:r>
              <a:rPr lang="en-US" sz="165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Context API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global states (e.g., user authentication, shopping cart), supplemented by local component state for UI-specific data. For complex asynchronous operations and side effects, </a:t>
            </a:r>
            <a:r>
              <a:rPr lang="en-US" sz="165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Redux Toolkit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65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Query</a:t>
            </a: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will be evaluated for efficient data fetching and caching.</a:t>
            </a:r>
            <a:endParaRPr lang="en-US" sz="16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867" y="1692712"/>
            <a:ext cx="5620941" cy="5620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46679F-81EB-DAF3-EDF6-A365925E5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383" y="7656434"/>
            <a:ext cx="3147333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2494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 LLD (Spring Boot): API Design &amp; Service Layer Architecture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90073"/>
            <a:ext cx="130428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Spring Boot backend is structured with a clear separation of concerns, ensuring a robust and scalable API. The </a:t>
            </a:r>
            <a:r>
              <a:rPr lang="en-US" sz="17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Layer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orchestrates business logic and interacts with the Data Access Layer, while </a:t>
            </a:r>
            <a:r>
              <a:rPr lang="en-US" sz="17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RESTful Controllers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handle incoming requests and map them to appropriate service methods.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657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30906" y="3843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RESTful Endpoints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4333994"/>
            <a:ext cx="5642491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API routes for items, bids, users, and authentication (e.g.,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/api/v1/items/{id}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/api/v1/bids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37657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194000" y="3843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Service Layer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94000" y="4333994"/>
            <a:ext cx="5642610" cy="695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Contains core business logic. Examples: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ItemService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BidService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UserService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4831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530906" y="5561052"/>
            <a:ext cx="37782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Transfer Objects (DTOs)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30906" y="6051471"/>
            <a:ext cx="564249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for safe data exchange between layers, preventing direct exposure of entities.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56884" y="54831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94000" y="5561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94000" y="6051471"/>
            <a:ext cx="5642610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Leverages Spring Security for authentication (JWT) and authorization.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986945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service method is designed to be atomic, handling specific business operations and ensuring transactional integrity.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B54973-436E-F58E-C8C1-9F0F17178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383" y="7656434"/>
            <a:ext cx="3147333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8809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 LLD (Spring Boot): Data Access &amp; Business Logic Flows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541984"/>
            <a:ext cx="6244709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750" dirty="0">
                <a:solidFill>
                  <a:srgbClr val="64B8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Access Layer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(DAL) utilizes Spring Data JPA, providing a powerful abstraction over JDBC for seamless interaction with the MySQL database. Repositories define methods for CRUD operations, and custom queries can be added as needed.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46865"/>
            <a:ext cx="6244709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Entities: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Java POJOs mapped to database tables (e.g.,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Bid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14104"/>
            <a:ext cx="6244709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Repositories: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Interfaces extending 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JpaRepository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data access methods.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981343"/>
            <a:ext cx="6244709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Transactions: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Managed via Spring's declarative transaction management (</a:t>
            </a: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541984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business logic flows: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086219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Placing a Bid: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505676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bid amount against current highest bid.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925133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auction status (active, not ended).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344591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highest bid and bid history.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76404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relevant parties (previous bidder, item owner).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183505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Ending an Auction: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602962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Triggered by cron job or countdown timer.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6022419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winner based on highest bid.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99521" y="6441877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item status to "sold" or "ended".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6861334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invoice/notification for winner and seller.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BDB402-3625-4355-8D13-BB28FF51F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383" y="7656434"/>
            <a:ext cx="3147333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820" y="512921"/>
            <a:ext cx="8806101" cy="466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Module Walkthrough: The Bidding Process Flow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52820" y="1352193"/>
            <a:ext cx="13324761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bidding process is central to the auction system. This flow outlines the sequence of interactions from the user's action to the database update and subsequent notifications.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20" y="2121575"/>
            <a:ext cx="932617" cy="1119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1888" y="2308027"/>
            <a:ext cx="2331601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 User Places Bid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771888" y="2711172"/>
            <a:ext cx="12205692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sends a POST request to </a:t>
            </a: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/api/v1/bids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</a:t>
            </a: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item_id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bid_amount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20" y="3240643"/>
            <a:ext cx="932617" cy="1119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71888" y="3427095"/>
            <a:ext cx="2331601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 Backend Validation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771888" y="3830241"/>
            <a:ext cx="12205692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BidService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validates </a:t>
            </a: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bid_amount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(must be &gt; current highest bid, &gt; minimum increment) and auction status.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20" y="4359712"/>
            <a:ext cx="932617" cy="11190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71888" y="4546163"/>
            <a:ext cx="2331601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 Database Update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771888" y="4949309"/>
            <a:ext cx="12205692" cy="287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valid, </a:t>
            </a: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BidRepository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saves the new bid; </a:t>
            </a: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ItemRepository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updates </a:t>
            </a: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current_bid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4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highest_bidder_id</a:t>
            </a: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(transactionally).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20" y="5478780"/>
            <a:ext cx="932617" cy="11190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71888" y="5665232"/>
            <a:ext cx="3089196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4. Real-time Update &amp; Notify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771888" y="6068378"/>
            <a:ext cx="12205692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sends WebSocket notification to all active bidders and item page. Previous highest bidder receives outbid notification.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20" y="6597848"/>
            <a:ext cx="932617" cy="11190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71888" y="6784300"/>
            <a:ext cx="2331601" cy="291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5. Frontend Rerender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1771888" y="7187446"/>
            <a:ext cx="12205692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 receives WebSocket update and rerenders the item component to reflect the new highest bid.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B60304-B2E3-D44C-4A0A-A3167E15D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9383" y="7656434"/>
            <a:ext cx="3147333" cy="472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0490"/>
            <a:ext cx="908065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&amp; Scalability Considerations at LLD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094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Security Measures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90574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JWT-based authentication for stateless API security, managed by Spring Security.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50193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Authorization: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Role-based access control (RBAC) to restrict actions (e.g., only seller can edit item).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209812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Validation: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Extensive server-side validation to prevent injection attacks and malformed data.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69431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Encryption: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Passwords stored as bcrypt hashes; sensitive data encrypted at rest and in transit (HTTPS).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29049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Rate Limiting: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 API rate limiting to prevent brute-force attacks and abuse.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1094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Scalability Measures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2690574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Stateless Services: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Backend services are stateless, allowing for easy horizontal scaling.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450193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Optimization: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Indexing key columns, connection pooling (HikariCP), and query optimization.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209812"/>
            <a:ext cx="624470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Caching: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Implement caching layers (e.g., Redis) for frequently accessed, immutable data (e.g., categories, popular items).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309592"/>
            <a:ext cx="624470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Asynchronous Processing: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 message queues (e.g., RabbitMQ, Kafka) for non-critical operations like email notifications, freeing up main threads.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6409373"/>
            <a:ext cx="62447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WebSockets: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real-time updates (e.g., live bids) to reduce polling overhead.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0C16E0-7C03-B369-6AC2-638FA693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9383" y="7656434"/>
            <a:ext cx="3147333" cy="4724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1045</Words>
  <Application>Microsoft Office PowerPoint</Application>
  <PresentationFormat>Custom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Roboto</vt:lpstr>
      <vt:lpstr>Arial</vt:lpstr>
      <vt:lpstr>Consolas</vt:lpstr>
      <vt:lpstr>Host Grotesk Medium</vt:lpstr>
      <vt:lpstr>Host Grotesk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Gangadhar, Bollam Gnanendra Bhanu (Cognizant)</cp:lastModifiedBy>
  <cp:revision>2</cp:revision>
  <dcterms:created xsi:type="dcterms:W3CDTF">2025-09-04T04:48:44Z</dcterms:created>
  <dcterms:modified xsi:type="dcterms:W3CDTF">2025-09-04T04:52:49Z</dcterms:modified>
</cp:coreProperties>
</file>